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152A3E"/>
          </a:solidFill>
          <a:ln w="12700">
            <a:solidFill>
              <a:srgbClr val="152A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СТОРОНА СИЛЫ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Коммуникационная стратегия вовлечения сотрудников Сбера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корпоративный спорт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1645920" cy="50292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246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знания о возможностях — к регулярному участию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Коммуникационная концепция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есть у Сбера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Спортивная экосистема, которая уже работает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9844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624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спорт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активности и инфраструктура для сотрудников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29844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3624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Сбербанкиада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Всероссийские соревнования — ключевой элемент культуры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29844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36245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Зелёный Марафон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Массовый формат, объединяющий сотрудников и экосистему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6060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280720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8712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ГТО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стимулирования к сдаче нормативов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37560" y="26060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280720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87121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Спортивная инфраструктура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2044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офисах есть пространства. В Новосибирске — зал с тренажёрами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260604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0" y="280720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287121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00800" y="3319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и секции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регионах — разные виды спорта. Набор зависит от офиса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Возможностей много. Но человек должен понимать, что делать дальше.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21A03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51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УЗНАЛ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47672" y="105156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C1B2A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ЗАИНТЕРЕСОВАЛСЯ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85032" y="105156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86200" y="1051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C1B2A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051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ПОПРОБОВАЛ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22392" y="105156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1051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C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1051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ВТЯНУЛСЯ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59752" y="105156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60920" y="1051560"/>
            <a:ext cx="1572768" cy="384048"/>
          </a:xfrm>
          <a:prstGeom prst="roundRect">
            <a:avLst>
              <a:gd name="adj" fmla="val 19048"/>
            </a:avLst>
          </a:prstGeom>
          <a:solidFill>
            <a:srgbClr val="0C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10515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ПРИВЁЛ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6459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у нас есть?»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09160" y="16459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21A03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057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я могу попробовать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на этой неделе?»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ключевых барьера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никогда этим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занимался»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хочу чувствовать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себя новичком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32461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204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знаю,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это проходит»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понимаю, где искать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и как записаться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2461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меня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времени»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 кажется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дополнительной нагрузкой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 ИДЕЯ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СВОЯ СТОРОНА СИЛЫ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C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сотрудника — свой способ быть активным.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Кому-то нужен зал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Кому-то — бег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Кому-то — волейбол после работы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2369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Кому-то — первая тренировка вместе с коллегой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7772400" cy="822960"/>
          </a:xfrm>
          <a:prstGeom prst="roundRect">
            <a:avLst>
              <a:gd name="adj" fmla="val 11111"/>
            </a:avLst>
          </a:prstGeom>
          <a:solidFill>
            <a:srgbClr val="152A3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31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не говорит сотруднику, каким должен быть его спорт.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помогает ему найти свой.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кого мы говорим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аудитории — три разных барьера и сообщения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234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21A03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234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НАЧАТЬ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не спортсмен»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Простые форматы, новичков, первую тренировку, поддержку коллег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" y="3931920"/>
            <a:ext cx="2377440" cy="32004"/>
          </a:xfrm>
          <a:prstGeom prst="rect">
            <a:avLst/>
          </a:prstGeom>
          <a:solidFill>
            <a:srgbClr val="E6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Начать можно с одного занятия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05156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38728" y="1234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21A038"/>
          </a:solidFill>
          <a:ln/>
        </p:spPr>
      </p:sp>
      <p:sp>
        <p:nvSpPr>
          <p:cNvPr id="16" name="Text 14"/>
          <p:cNvSpPr/>
          <p:nvPr/>
        </p:nvSpPr>
        <p:spPr>
          <a:xfrm>
            <a:off x="3538728" y="1234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3872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ЗАНИМАЮСЬ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38728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38728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знаю, что ещё есть»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38728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38728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секции, соревнования, инфраструктуру, спортивные сообщества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38728" y="3931920"/>
            <a:ext cx="2377440" cy="32004"/>
          </a:xfrm>
          <a:prstGeom prst="rect">
            <a:avLst/>
          </a:prstGeom>
          <a:solidFill>
            <a:srgbClr val="E6F4E9"/>
          </a:solidFill>
          <a:ln/>
        </p:spPr>
      </p:sp>
      <p:sp>
        <p:nvSpPr>
          <p:cNvPr id="23" name="Text 21"/>
          <p:cNvSpPr/>
          <p:nvPr/>
        </p:nvSpPr>
        <p:spPr>
          <a:xfrm>
            <a:off x="3538728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Найди свой следующий уровень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051560"/>
            <a:ext cx="2788920" cy="36118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1234440"/>
            <a:ext cx="594360" cy="292608"/>
          </a:xfrm>
          <a:prstGeom prst="roundRect">
            <a:avLst>
              <a:gd name="adj" fmla="val 18750"/>
            </a:avLst>
          </a:prstGeom>
          <a:solidFill>
            <a:srgbClr val="21A038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12344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64808" y="1691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МНЕ НУЖНА КОМАНДА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64808" y="2194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Барьер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64808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«Одному неинтересно»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64808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64808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Команды, истории коллег, совместные тренировки, турниры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64808" y="3931920"/>
            <a:ext cx="2377440" cy="32004"/>
          </a:xfrm>
          <a:prstGeom prst="rect">
            <a:avLst/>
          </a:prstGeom>
          <a:solidFill>
            <a:srgbClr val="E6F4E9"/>
          </a:solidFill>
          <a:ln/>
        </p:spPr>
      </p:sp>
      <p:sp>
        <p:nvSpPr>
          <p:cNvPr id="33" name="Text 31"/>
          <p:cNvSpPr/>
          <p:nvPr/>
        </p:nvSpPr>
        <p:spPr>
          <a:xfrm>
            <a:off x="6464808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Зови своих — спорт объединяет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Контентная система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рубрик, которые закрывают путь от интереса до регулярного участия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ПОПРОБУЙ ВПЕРВЫЕ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Истории сотрудников, которые впервые пришли на тренировку. «Я никогда не играл в волейбол. Пришёл с коллегой — теперь хожу каждую неделю».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170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 ЭТОЙ НЕДЕЛИ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неделя — один фокус. ВОЛЕЙБОЛ · Среда 18:30 · Новички welcome → Записаться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058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170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В ДЕЛЕ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вместо абстрактных достижений. Сотрудник + история + вид спорта + зачем ему это.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ВОЗМОЖНОСТЕЙ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Где? Когда? Как записаться? Для кого? Сколько мест? Единый визуальный шаблон.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8346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НЕДЕЛИ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Секции и сообщества. «Ищем игроков в волейбольную команду. Уровень — любой».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83464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33101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 ЗА 30 МИНУТ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36576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тех, у кого «нет времени»: короткие тренировки, зарядки, форматы до/после работы.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и ритм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solidFill>
            <a:srgbClr val="0C1B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4904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822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Частота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портал / лента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Посты, истории, подборки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раза в неделю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«Спорт этой недели»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раз в неделю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Тренировки и соревнования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корп. приложение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Напоминание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24 ч / 2 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Плакаты / экраны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Афиша и QR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в 2 недели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 секций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Оперативные сообщения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необходимости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Руководители / капитаны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Личное приглашение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раза в месяц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6F4E9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023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правило: одна коммуникация — одно действие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«В Сбере существует множество возможностей…», а «ВОЛЕЙБОЛ В СРЕДУ · 18:30 · Офис · Новичкам · Записаться →»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Механики вовлечения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— это не только контент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33856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1978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972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РАЗ — ВМЕСТЕ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35331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привести коллегу на первое занятие. Снижает барьер входа.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11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81051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 В КАЛЕНДАРЬ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34440" y="206654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Тренировка автоматически добавляется в рабочий календарь. Спорт становится такой же частью недели, как встреча.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43230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6243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52374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ТРЕНИРОВКИ В МЕСЯЦ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27797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Простой челлендж: 4 занятия → digital-бейдж / мерч / доступ к специальной активности.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14553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73552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33756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23697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ПРИВЕДИ КОЛЛЕГУ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34440" y="34930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органического роста: пришёл сам → привёл коллегу → сформировал команду.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85876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05079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9502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 ПО УРОВНЮ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34440" y="42062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Новичок → Любитель → Регулярный → Соревновательный. Спорт перестаёт быть закрытым клубом.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коммуникационной волны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«7 ДНЕЙ — 7 СПОСОБОВ ДВИГАТЬСЯ»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18488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18488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64208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71216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21A03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71216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16936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Волейбол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23944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23944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9664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Плавание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76672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76672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22392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тренировка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Семейная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82128" y="10515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82128" y="1188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927848" y="1554480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Прогулка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229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697480"/>
            <a:ext cx="109728" cy="196596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 · ВОЛЕЙБОЛ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18:30  ·  Подойдёт, даже если никогда не играл  ·  Записаться 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749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день: 1 человек + 1 вид активности + 1 конкретное действие.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одну неделю сотрудник видит не «корпоративный спорт», а семь разных способов найти свой.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измеряем результат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только охваты и лайки — пять уровней вовлечения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438912" cy="438912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Знают, где найти спортивные возможности; знают, как записаться; знают о мероприятиях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438912" cy="438912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ДЕЙСТВИЕ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Sport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0574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сотрудников, впервые пришедших на спортивную активность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42032"/>
            <a:ext cx="438912" cy="438912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УЧАСТИЕ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Sport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новичков, которые возвращаются в течение 30 дней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273552"/>
            <a:ext cx="438912" cy="438912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ВОВЛЕЧЕНИЕ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Engagement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520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сотрудников, регулярно участвующих в спортивных активностях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005072"/>
            <a:ext cx="438912" cy="438912"/>
          </a:xfrm>
          <a:prstGeom prst="ellipse">
            <a:avLst/>
          </a:prstGeom>
          <a:solidFill>
            <a:srgbClr val="21A03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251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участников, пришедших по приглашению коллеги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52A3E"/>
          </a:solidFill>
          <a:ln w="12700">
            <a:solidFill>
              <a:srgbClr val="152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даёт возможности.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 помогает сотруднику найти свою.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2011680" cy="4572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СВОЮ СТОРОНУ СИЛЫ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1. Пост во внутреннюю ленту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463040" y="822960"/>
            <a:ext cx="621792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4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822960"/>
            <a:ext cx="6217920" cy="9144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1097280"/>
            <a:ext cx="411480" cy="411480"/>
          </a:xfrm>
          <a:prstGeom prst="ellipse">
            <a:avLst/>
          </a:prstGeom>
          <a:solidFill>
            <a:srgbClr val="E6F4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117043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115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спорт Сбера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0" y="13533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· 09:15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ты уже нашёл свой спорт в Сбере?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737360" y="2194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эту среду — волейбол для новичков.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37360" y="26517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🏐   Среда, 18:30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37360" y="29718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 Спортивный зал офиса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37360" y="32918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 Можно без опыта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3703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Приходи один или зови коллегу.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737360" y="41148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21A038"/>
          </a:solidFill>
          <a:ln/>
        </p:spPr>
      </p:sp>
      <p:sp>
        <p:nvSpPr>
          <p:cNvPr id="16" name="Text 13"/>
          <p:cNvSpPr/>
          <p:nvPr/>
        </p:nvSpPr>
        <p:spPr>
          <a:xfrm>
            <a:off x="17373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Записаться →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2. Плакат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194560" y="777240"/>
            <a:ext cx="4754880" cy="3977640"/>
          </a:xfrm>
          <a:prstGeom prst="roundRect">
            <a:avLst>
              <a:gd name="adj" fmla="val 2299"/>
            </a:avLst>
          </a:prstGeom>
          <a:solidFill>
            <a:srgbClr val="0C1B2A"/>
          </a:solidFill>
          <a:ln/>
          <a:effectLst>
            <a:outerShdw sx="100000" sy="100000" kx="0" ky="0" algn="bl" rotWithShape="0" blurRad="127000" dist="38100" dir="8400000">
              <a:srgbClr val="000000">
                <a:alpha val="9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194560" y="777240"/>
            <a:ext cx="109728" cy="397764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11430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НУЖНО БЫТЬ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СПОРТСМЕНОМ.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НАЧАТЬ.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2606040"/>
            <a:ext cx="1463040" cy="45720"/>
          </a:xfrm>
          <a:prstGeom prst="rect">
            <a:avLst/>
          </a:prstGeom>
          <a:solidFill>
            <a:srgbClr val="21A038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A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ВОЛЕЙБОЛ  ·  СРЕДА  ·  18:30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3246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новичков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379476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3794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Записаться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Своя сторона силы — Сбер</dc:title>
  <dc:subject>PptxGenJS Presentation</dc:subject>
  <dc:creator>Коммуникационная стратегия</dc:creator>
  <cp:lastModifiedBy>Коммуникационная стратегия</cp:lastModifiedBy>
  <cp:revision>1</cp:revision>
  <dcterms:created xsi:type="dcterms:W3CDTF">2026-09-09T10:52:08Z</dcterms:created>
  <dcterms:modified xsi:type="dcterms:W3CDTF">2026-09-09T10:52:08Z</dcterms:modified>
</cp:coreProperties>
</file>